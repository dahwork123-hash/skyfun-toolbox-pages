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jJAmchw0n7uLTM8sVgZgVF9eMw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5e727d914_1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f5e727d914_1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7cb72682_2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97cb72682_2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916939" y="666064"/>
            <a:ext cx="2467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646582" y="284734"/>
            <a:ext cx="53308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916939" y="666064"/>
            <a:ext cx="2467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916939" y="666064"/>
            <a:ext cx="2467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916939" y="666064"/>
            <a:ext cx="246761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jpg"/><Relationship Id="rId4" Type="http://schemas.openxmlformats.org/officeDocument/2006/relationships/image" Target="../media/image5.jpg"/><Relationship Id="rId5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6.jpg"/><Relationship Id="rId5" Type="http://schemas.openxmlformats.org/officeDocument/2006/relationships/image" Target="../media/image35.jpg"/><Relationship Id="rId6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Relationship Id="rId5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2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21.jpg"/><Relationship Id="rId5" Type="http://schemas.openxmlformats.org/officeDocument/2006/relationships/image" Target="../media/image26.jpg"/><Relationship Id="rId6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Relationship Id="rId4" Type="http://schemas.openxmlformats.org/officeDocument/2006/relationships/image" Target="../media/image33.jpg"/><Relationship Id="rId5" Type="http://schemas.openxmlformats.org/officeDocument/2006/relationships/image" Target="../media/image32.png"/><Relationship Id="rId6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Relationship Id="rId4" Type="http://schemas.openxmlformats.org/officeDocument/2006/relationships/image" Target="../media/image31.jpg"/><Relationship Id="rId5" Type="http://schemas.openxmlformats.org/officeDocument/2006/relationships/image" Target="../media/image34.jpg"/><Relationship Id="rId6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g3f5e727d914_1_0" title="螢幕擷取畫面 2026-07-29 182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490082">
            <a:off x="59556" y="65298"/>
            <a:ext cx="1805114" cy="234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g3f5e727d914_1_0" title="螢幕擷取畫面 2026-07-29 182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3344">
            <a:off x="711717" y="2046243"/>
            <a:ext cx="3571117" cy="464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g3f5e727d914_1_0" title="螢幕擷取畫面 2026-07-29 182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963317">
            <a:off x="7652424" y="1532975"/>
            <a:ext cx="3154124" cy="41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f5e727d914_1_0" title="螢幕擷取畫面 2026-07-29 182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60125">
            <a:off x="10673171" y="-56872"/>
            <a:ext cx="1689757" cy="2197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g3f5e727d914_1_0" title="螢幕擷取畫面 2026-07-29 182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561" y="2754975"/>
            <a:ext cx="3154125" cy="41024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f5e727d914_1_0"/>
          <p:cNvSpPr txBox="1"/>
          <p:nvPr>
            <p:ph type="title"/>
          </p:nvPr>
        </p:nvSpPr>
        <p:spPr>
          <a:xfrm>
            <a:off x="492050" y="142950"/>
            <a:ext cx="11009100" cy="27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</a:t>
            </a:r>
            <a:r>
              <a:rPr lang="zh-TW">
                <a:highlight>
                  <a:srgbClr val="FFFF00"/>
                </a:highlight>
              </a:rPr>
              <a:t>公會審核</a:t>
            </a:r>
            <a:r>
              <a:rPr lang="zh-TW"/>
              <a:t>是以</a:t>
            </a:r>
            <a:r>
              <a:rPr lang="zh-TW">
                <a:highlight>
                  <a:srgbClr val="FFFF00"/>
                </a:highlight>
              </a:rPr>
              <a:t>紙本</a:t>
            </a:r>
            <a:r>
              <a:rPr lang="zh-TW"/>
              <a:t>為主</a:t>
            </a:r>
            <a:endParaRPr/>
          </a:p>
          <a:p>
            <a:pPr indent="0" lvl="0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因此檢附的照片必須</a:t>
            </a:r>
            <a:r>
              <a:rPr b="1" lang="zh-TW" u="sng">
                <a:solidFill>
                  <a:srgbClr val="FF0000"/>
                </a:solidFill>
                <a:highlight>
                  <a:srgbClr val="FFFF00"/>
                </a:highlight>
              </a:rPr>
              <a:t>清楚且無反光或遮擋</a:t>
            </a:r>
            <a:r>
              <a:rPr lang="zh-TW"/>
              <a:t>，因為照片列印出來後</a:t>
            </a:r>
            <a:r>
              <a:rPr lang="zh-TW">
                <a:highlight>
                  <a:srgbClr val="FFFF00"/>
                </a:highlight>
              </a:rPr>
              <a:t>無法放大</a:t>
            </a:r>
            <a:r>
              <a:rPr lang="zh-TW"/>
              <a:t>，若原始照片不夠清楚</a:t>
            </a:r>
            <a:r>
              <a:rPr b="1" lang="zh-TW">
                <a:solidFill>
                  <a:srgbClr val="FF0000"/>
                </a:solidFill>
                <a:highlight>
                  <a:srgbClr val="FFFF00"/>
                </a:highlight>
              </a:rPr>
              <a:t>會被退件</a:t>
            </a:r>
            <a:r>
              <a:rPr lang="zh-TW"/>
              <a:t> </a:t>
            </a:r>
            <a:endParaRPr/>
          </a:p>
        </p:txBody>
      </p:sp>
      <p:pic>
        <p:nvPicPr>
          <p:cNvPr id="49" name="Google Shape;49;g3f5e727d914_1_0" title="螢幕擷取畫面 2026-07-29 182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100700">
            <a:off x="10498681" y="4587706"/>
            <a:ext cx="1781562" cy="231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4" name="Google Shape;54;p1"/>
          <p:cNvSpPr txBox="1"/>
          <p:nvPr>
            <p:ph type="title"/>
          </p:nvPr>
        </p:nvSpPr>
        <p:spPr>
          <a:xfrm>
            <a:off x="228600" y="291091"/>
            <a:ext cx="4419600" cy="62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1.門牌及大門</a:t>
            </a:r>
            <a:endParaRPr/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716" y="2781300"/>
            <a:ext cx="4395216" cy="329641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228600" y="985775"/>
            <a:ext cx="65421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imSun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戶政門牌照(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門牌地址要分常清楚且清晰無反光遮擋)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imSun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大門照，</a:t>
            </a:r>
            <a:r>
              <a:rPr b="1" lang="zh-TW" sz="1800">
                <a:solidFill>
                  <a:schemeClr val="dk1"/>
                </a:solidFill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由外往內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拍攝大門需拍攝到完整四個角，且預留門框上方及下方空間，請勿切齊門框，若門牌在大門旁請一併拍入圖中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(地板勿放置雜物，如地墊、拖鞋)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517762"/>
            <a:ext cx="4200525" cy="55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2" name="Google Shape;62;p2"/>
          <p:cNvSpPr txBox="1"/>
          <p:nvPr>
            <p:ph type="ctrTitle"/>
          </p:nvPr>
        </p:nvSpPr>
        <p:spPr>
          <a:xfrm>
            <a:off x="170924" y="224200"/>
            <a:ext cx="7110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1-2.</a:t>
            </a:r>
            <a:r>
              <a:rPr lang="zh-TW"/>
              <a:t>藝術</a:t>
            </a:r>
            <a:r>
              <a:rPr lang="zh-TW"/>
              <a:t>門牌</a:t>
            </a:r>
            <a:r>
              <a:rPr lang="zh-TW"/>
              <a:t>、臨時門牌</a:t>
            </a:r>
            <a:r>
              <a:rPr lang="zh-TW"/>
              <a:t>及大門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170925" y="981400"/>
            <a:ext cx="68763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imSun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藝術門牌拍攝清楚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門牌地址要非常清楚且清晰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無反光遮擋)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imSun"/>
              <a:buAutoNum type="arabicPeriod"/>
            </a:pPr>
            <a:r>
              <a:rPr lang="zh-TW" sz="1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大門照，</a:t>
            </a:r>
            <a:r>
              <a:rPr b="1" lang="zh-TW" sz="1800">
                <a:solidFill>
                  <a:schemeClr val="dk1"/>
                </a:solidFill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由外往內</a:t>
            </a:r>
            <a:r>
              <a:rPr lang="zh-TW" sz="1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拍攝大門需拍攝到完整四個角，且預留門框上方及下方空間，請勿切齊門框，若門牌在大門旁請一併拍入圖中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(地板勿放置雜物，如地墊、拖鞋)</a:t>
            </a:r>
            <a:endParaRPr b="1" sz="180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22276" t="0"/>
          <a:stretch/>
        </p:blipFill>
        <p:spPr>
          <a:xfrm>
            <a:off x="337899" y="2750525"/>
            <a:ext cx="2912375" cy="21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4">
            <a:alphaModFix/>
          </a:blip>
          <a:srcRect b="5647" l="4170" r="12594" t="16356"/>
          <a:stretch/>
        </p:blipFill>
        <p:spPr>
          <a:xfrm>
            <a:off x="3367050" y="2750525"/>
            <a:ext cx="3091575" cy="217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2700" y="5001050"/>
            <a:ext cx="2252600" cy="168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6">
            <a:alphaModFix/>
          </a:blip>
          <a:srcRect b="0" l="7021" r="13100" t="-8672"/>
          <a:stretch/>
        </p:blipFill>
        <p:spPr>
          <a:xfrm>
            <a:off x="7377625" y="-74275"/>
            <a:ext cx="4108750" cy="6584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2" name="Google Shape;72;p3"/>
          <p:cNvSpPr txBox="1"/>
          <p:nvPr/>
        </p:nvSpPr>
        <p:spPr>
          <a:xfrm>
            <a:off x="304800" y="306102"/>
            <a:ext cx="2467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2.衛浴</a:t>
            </a:r>
            <a:r>
              <a:rPr lang="zh-TW" sz="4000">
                <a:solidFill>
                  <a:srgbClr val="203D8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三寶</a:t>
            </a:r>
            <a:endParaRPr sz="40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3429012" y="333777"/>
            <a:ext cx="85050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拍攝到</a:t>
            </a:r>
            <a:r>
              <a:rPr b="1" lang="zh-TW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完整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馬桶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洗手台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蓮蓬頭 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12700" marR="508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蓮蓬頭需掛起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，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若未掛起需檢附原因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，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照片可以個別單獨拍攝或呈現於同一個畫面</a:t>
            </a: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470179"/>
            <a:ext cx="348615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476837"/>
            <a:ext cx="349567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0" name="Google Shape;80;p4"/>
          <p:cNvSpPr txBox="1"/>
          <p:nvPr>
            <p:ph type="title"/>
          </p:nvPr>
        </p:nvSpPr>
        <p:spPr>
          <a:xfrm>
            <a:off x="468881" y="263445"/>
            <a:ext cx="3989704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3.出入口及樓梯間</a:t>
            </a:r>
            <a:endParaRPr/>
          </a:p>
        </p:txBody>
      </p:sp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38201"/>
            <a:ext cx="3264408" cy="459074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5326375" y="263450"/>
            <a:ext cx="58956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imSun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社區路口/大門照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(勿有障礙物)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indent="-3429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imSun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樓梯間拍攝要清楚拍到平台與台階，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牆面及地板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且保持淨空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(牆面若有寫物件樓層請核對)</a:t>
            </a:r>
            <a:br>
              <a:rPr lang="zh-TW" sz="1800">
                <a:latin typeface="SimSun"/>
                <a:ea typeface="SimSun"/>
                <a:cs typeface="SimSun"/>
                <a:sym typeface="SimSun"/>
              </a:rPr>
            </a:b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(預留平台上方及下方空間，請勿切齊台階)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6366" y="1438201"/>
            <a:ext cx="3495675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4400" y="1447726"/>
            <a:ext cx="3514725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9" name="Google Shape;89;p5"/>
          <p:cNvSpPr txBox="1"/>
          <p:nvPr>
            <p:ph type="title"/>
          </p:nvPr>
        </p:nvSpPr>
        <p:spPr>
          <a:xfrm>
            <a:off x="203447" y="54687"/>
            <a:ext cx="826325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4.滅火器</a:t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5577175" y="457200"/>
            <a:ext cx="66147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需拍攝清楚且放大的銀標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2.</a:t>
            </a:r>
            <a:r>
              <a:rPr lang="zh-TW" sz="1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清楚且放大的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製造日期及有效日期照 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(勿裁切到製造日期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及有效年限3年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等字)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3.滅火器遠照 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(勿太近需能清楚辨識在室內)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4.</a:t>
            </a:r>
            <a:r>
              <a:rPr lang="zh-TW" sz="1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清楚的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滅火器手寫物件地址照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(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無需寫縣市，地址須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寫在滅火器規格貼紙旁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足以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辨識滅火器)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5750" y="2782550"/>
            <a:ext cx="3490414" cy="389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2625" y="2782551"/>
            <a:ext cx="2998640" cy="3895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5" title="IMG_937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675" y="3492798"/>
            <a:ext cx="3302976" cy="2986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 title="IMG_9377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450" y="861037"/>
            <a:ext cx="4110949" cy="2273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99" name="Google Shape;99;p6"/>
          <p:cNvSpPr txBox="1"/>
          <p:nvPr>
            <p:ph type="title"/>
          </p:nvPr>
        </p:nvSpPr>
        <p:spPr>
          <a:xfrm>
            <a:off x="9" y="123763"/>
            <a:ext cx="8263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800"/>
              <a:t>5.獨立型偵煙器/火警警報器</a:t>
            </a:r>
            <a:endParaRPr sz="3800"/>
          </a:p>
        </p:txBody>
      </p:sp>
      <p:sp>
        <p:nvSpPr>
          <p:cNvPr id="100" name="Google Shape;100;p6"/>
          <p:cNvSpPr txBox="1"/>
          <p:nvPr/>
        </p:nvSpPr>
        <p:spPr>
          <a:xfrm>
            <a:off x="6096003" y="123776"/>
            <a:ext cx="6096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6530" lvl="0" marL="1854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清楚銀標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近照需有完整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的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偵煙器或火警警報器</a:t>
            </a:r>
            <a:r>
              <a:rPr b="1" lang="zh-TW" sz="1800"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勿裁切</a:t>
            </a:r>
            <a:endParaRPr b="1" sz="1800">
              <a:highlight>
                <a:srgbClr val="FFFF00"/>
              </a:highlight>
              <a:latin typeface="SimSun"/>
              <a:ea typeface="SimSun"/>
              <a:cs typeface="SimSun"/>
              <a:sym typeface="SimSun"/>
            </a:endParaRPr>
          </a:p>
          <a:p>
            <a:pPr indent="0" lvl="0" marL="8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(銀標無反光模糊，可清楚看見消字)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2.遠照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須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把偵煙器或火警警報器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用</a:t>
            </a:r>
            <a:r>
              <a:rPr b="1" lang="zh-TW" sz="1800">
                <a:solidFill>
                  <a:schemeClr val="dk1"/>
                </a:solidFill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紅框框起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，在天花板上要拍攝到</a:t>
            </a:r>
            <a:r>
              <a:rPr b="1" lang="zh-TW" sz="1800">
                <a:solidFill>
                  <a:schemeClr val="dk1"/>
                </a:solidFill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燈具</a:t>
            </a: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或天花板與牆面的</a:t>
            </a:r>
            <a:r>
              <a:rPr b="1" lang="zh-TW" sz="1800">
                <a:solidFill>
                  <a:schemeClr val="dk1"/>
                </a:solidFill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Y字牆角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(若偵煙器或火警警報器在牆面請連天花板一併拍攝入鏡)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01" name="Google Shape;1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128" y="1828800"/>
            <a:ext cx="3897072" cy="349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9918" y="1828800"/>
            <a:ext cx="3488171" cy="3641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0807" y="1823621"/>
            <a:ext cx="3622352" cy="4828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97cb72682_2_0"/>
          <p:cNvSpPr txBox="1"/>
          <p:nvPr>
            <p:ph type="title"/>
          </p:nvPr>
        </p:nvSpPr>
        <p:spPr>
          <a:xfrm>
            <a:off x="386526" y="562300"/>
            <a:ext cx="8394300" cy="12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sz="3800"/>
              <a:t>5-1.獨立型偵煙器/火警警報器安裝規範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g3f97cb72682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25" y="2019075"/>
            <a:ext cx="5698300" cy="42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f97cb72682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1200" y="2019075"/>
            <a:ext cx="5752799" cy="427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5" name="Google Shape;115;p7"/>
          <p:cNvSpPr txBox="1"/>
          <p:nvPr>
            <p:ph type="title"/>
          </p:nvPr>
        </p:nvSpPr>
        <p:spPr>
          <a:xfrm>
            <a:off x="381000" y="319117"/>
            <a:ext cx="2895600" cy="62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6.</a:t>
            </a:r>
            <a:r>
              <a:rPr lang="zh-TW">
                <a:latin typeface="SimSun"/>
                <a:ea typeface="SimSun"/>
                <a:cs typeface="SimSun"/>
                <a:sym typeface="SimSun"/>
              </a:rPr>
              <a:t>電熱水器</a:t>
            </a:r>
            <a:endParaRPr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676400"/>
            <a:ext cx="3817666" cy="431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8404" y="1676400"/>
            <a:ext cx="3616729" cy="431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"/>
          <p:cNvSpPr txBox="1"/>
          <p:nvPr/>
        </p:nvSpPr>
        <p:spPr>
          <a:xfrm>
            <a:off x="5646466" y="330214"/>
            <a:ext cx="5156810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SimSun"/>
                <a:ea typeface="SimSun"/>
                <a:cs typeface="SimSun"/>
                <a:sym typeface="SimSun"/>
              </a:rPr>
              <a:t>1.放置位置照</a:t>
            </a:r>
            <a:endParaRPr sz="2000"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SimSun"/>
                <a:ea typeface="SimSun"/>
                <a:cs typeface="SimSun"/>
                <a:sym typeface="SimSun"/>
              </a:rPr>
              <a:t>2.規格表近照</a:t>
            </a:r>
            <a:endParaRPr sz="2000"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(規格表模糊或不清楚也需拍照</a:t>
            </a:r>
            <a:r>
              <a:rPr b="1" lang="zh-TW" sz="20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檢附</a:t>
            </a:r>
            <a:r>
              <a:rPr b="1" lang="zh-TW" sz="20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證明)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23" name="Google Shape;123;p8"/>
          <p:cNvSpPr txBox="1"/>
          <p:nvPr>
            <p:ph type="title"/>
          </p:nvPr>
        </p:nvSpPr>
        <p:spPr>
          <a:xfrm>
            <a:off x="152400" y="119974"/>
            <a:ext cx="5257800" cy="62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7.</a:t>
            </a:r>
            <a:r>
              <a:rPr lang="zh-TW">
                <a:latin typeface="SimSun"/>
                <a:ea typeface="SimSun"/>
                <a:cs typeface="SimSun"/>
                <a:sym typeface="SimSun"/>
              </a:rPr>
              <a:t>瓦斯熱水器(室外)</a:t>
            </a:r>
            <a:endParaRPr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" y="990600"/>
            <a:ext cx="2971801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 txBox="1"/>
          <p:nvPr/>
        </p:nvSpPr>
        <p:spPr>
          <a:xfrm>
            <a:off x="376473" y="5492689"/>
            <a:ext cx="6629400" cy="11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6530" lvl="0" marL="186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放置位置照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-176530" lvl="0" marL="18605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規格表近照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(規格表模糊不清楚也需拍照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檢附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證明)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-176530" lvl="0" marL="186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證明為室外空間照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(拍攝到天空或用棍棒掃把伸出證明熱水器為室外空間)</a:t>
            </a:r>
            <a:endParaRPr/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1041" y="990600"/>
            <a:ext cx="3052666" cy="443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28600"/>
            <a:ext cx="4750652" cy="3109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5591" y="3400727"/>
            <a:ext cx="4754461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3" name="Google Shape;133;p9"/>
          <p:cNvSpPr txBox="1"/>
          <p:nvPr>
            <p:ph type="title"/>
          </p:nvPr>
        </p:nvSpPr>
        <p:spPr>
          <a:xfrm>
            <a:off x="464597" y="195693"/>
            <a:ext cx="5116497" cy="627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7-1.</a:t>
            </a:r>
            <a:r>
              <a:rPr lang="zh-TW">
                <a:latin typeface="SimSun"/>
                <a:ea typeface="SimSun"/>
                <a:cs typeface="SimSun"/>
                <a:sym typeface="SimSun"/>
              </a:rPr>
              <a:t>瓦斯熱水器(室內)</a:t>
            </a:r>
            <a:endParaRPr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5581095" y="352184"/>
            <a:ext cx="66294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6530" lvl="0" marL="186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放置位置照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-176530" lvl="0" marL="18605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規格表近照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(規格表模糊不清楚也需拍照證明檢附)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-176529" lvl="0" marL="186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alibri"/>
              <a:buAutoNum type="arabicPeriod"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拍攝到排氣管出口照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8217" y="1828800"/>
            <a:ext cx="3408528" cy="45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006" y="889940"/>
            <a:ext cx="4307513" cy="254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0600" y="1828800"/>
            <a:ext cx="3198944" cy="45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007" y="3563377"/>
            <a:ext cx="4313430" cy="298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3" name="Google Shape;143;p10"/>
          <p:cNvSpPr txBox="1"/>
          <p:nvPr>
            <p:ph type="title"/>
          </p:nvPr>
        </p:nvSpPr>
        <p:spPr>
          <a:xfrm>
            <a:off x="571725" y="402304"/>
            <a:ext cx="3200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8.室內設備照</a:t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49" y="1610867"/>
            <a:ext cx="2913886" cy="388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5886" y="1610867"/>
            <a:ext cx="2913888" cy="388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8043" y="1597152"/>
            <a:ext cx="2913888" cy="388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1610867"/>
            <a:ext cx="2912364" cy="388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/>
        </p:nvSpPr>
        <p:spPr>
          <a:xfrm>
            <a:off x="4383725" y="432450"/>
            <a:ext cx="75759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5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SimSun"/>
                <a:ea typeface="SimSun"/>
                <a:cs typeface="SimSun"/>
                <a:sym typeface="SimSun"/>
              </a:rPr>
              <a:t>1.安全檢核表上填寫的附屬設備項目家俱、家電設備都要拍到</a:t>
            </a:r>
            <a:endParaRPr sz="1800">
              <a:latin typeface="SimSun"/>
              <a:ea typeface="SimSun"/>
              <a:cs typeface="SimSun"/>
              <a:sym typeface="SimSun"/>
            </a:endParaRPr>
          </a:p>
          <a:p>
            <a:pPr indent="0" lvl="0" marL="9525" rtl="0" algn="l">
              <a:spcBef>
                <a:spcPts val="5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(若家俱或家電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有多件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以上，僅需檢附一張照片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證明物件內有此物</a:t>
            </a:r>
            <a:r>
              <a:rPr b="1" lang="zh-TW" sz="180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即可)</a:t>
            </a:r>
            <a:endParaRPr b="1" sz="1800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2026-07-28T08:06:11Z</dcterms:created>
  <dc:creator>admin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2025-11-25T00:00:00Z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2026-07-28T00:00:00Z</vt:filetime>
  </property>
  <property fmtid="{D5CDD505-2E9C-101B-9397-08002B2CF9AE}" pid="6" name="Producer">
    <vt:lpwstr>Microsoft® PowerPoint® LTSC</vt:lpwstr>
  </property>
</Properties>
</file>